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/>
      <p:pic>
        <p:nvPicPr>
          <p:cNvPr id="2" name="Picture 1" descr="im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0" y="0"/>
            <a:ext cx="46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00000" y="0"/>
            <a:ext cx="4644000" cy="5143500"/>
          </a:xfrm>
          <a:prstGeom prst="rect">
            <a:avLst/>
          </a:prstGeom>
          <a:solidFill>
            <a:srgbClr val="111111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731520"/>
            <a:ext cx="54864" cy="365760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8000000" cy="10058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Georgia"/>
              </a:rPr>
              <a:t>이배 李培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800000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800" b="0" i="0" spc="800">
                <a:solidFill>
                  <a:srgbClr val="C8A84B"/>
                </a:solidFill>
                <a:latin typeface="Georgia"/>
              </a:rPr>
              <a:t>L E E   B A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7700000" cy="64008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2600" b="0" i="1">
                <a:solidFill>
                  <a:srgbClr val="BBBBBB"/>
                </a:solidFill>
                <a:latin typeface="Calibri"/>
              </a:rPr>
              <a:t>En attendant: 기다리며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730000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Calibri"/>
              </a:rPr>
              <a:t>뮤지엄 산 (Museum SAN), 강원도 원주</a:t>
            </a:r>
          </a:p>
          <a:p>
            <a:pPr algn="l"/>
            <a:r>
              <a:rPr sz="1400" b="0" i="0">
                <a:solidFill>
                  <a:srgbClr val="888888"/>
                </a:solidFill>
                <a:latin typeface="Calibri"/>
              </a:rPr>
              <a:t>2026. 4. 7 — 12.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뮤지엄 산 최초 국내 작가 기획전  ·  역대 최대 규모  ·  39점 전시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274320"/>
            <a:ext cx="1097280" cy="4114800"/>
          </a:xfrm>
          <a:prstGeom prst="rect">
            <a:avLst/>
          </a:prstGeom>
          <a:solidFill>
            <a:srgbClr val="4A4A4A">
              <a:alpha val="5000"/>
            </a:srgbClr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548640"/>
            <a:ext cx="1097280" cy="3749040"/>
          </a:xfrm>
          <a:prstGeom prst="rect">
            <a:avLst/>
          </a:prstGeom>
          <a:solidFill>
            <a:srgbClr val="4A4A4A">
              <a:alpha val="9000"/>
            </a:srgbClr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0" y="822960"/>
            <a:ext cx="1097280" cy="3383280"/>
          </a:xfrm>
          <a:prstGeom prst="rect">
            <a:avLst/>
          </a:prstGeom>
          <a:solidFill>
            <a:srgbClr val="4A4A4A">
              <a:alpha val="13000"/>
            </a:srgbClr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1097280"/>
            <a:ext cx="1097280" cy="3017520"/>
          </a:xfrm>
          <a:prstGeom prst="rect">
            <a:avLst/>
          </a:prstGeom>
          <a:solidFill>
            <a:srgbClr val="4A4A4A">
              <a:alpha val="17000"/>
            </a:srgbClr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371600"/>
            <a:ext cx="1097280" cy="2651760"/>
          </a:xfrm>
          <a:prstGeom prst="rect">
            <a:avLst/>
          </a:prstGeom>
          <a:solidFill>
            <a:srgbClr val="4A4A4A">
              <a:alpha val="21000"/>
            </a:srgbClr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645920"/>
            <a:ext cx="1097280" cy="2286000"/>
          </a:xfrm>
          <a:prstGeom prst="rect">
            <a:avLst/>
          </a:prstGeom>
          <a:solidFill>
            <a:srgbClr val="4A4A4A">
              <a:alpha val="25000"/>
            </a:srgbClr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/>
      <p:pic>
        <p:nvPicPr>
          <p:cNvPr id="2" name="Picture 1" descr="img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000" y="300000"/>
            <a:ext cx="3044000" cy="460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100" b="0" i="0" spc="600">
                <a:solidFill>
                  <a:srgbClr val="888888"/>
                </a:solidFill>
                <a:latin typeface="Calibri"/>
              </a:rPr>
              <a:t>A R T I S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55000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숯의 작가 이배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3657600" cy="3108960"/>
          </a:xfrm>
          <a:prstGeom prst="rect">
            <a:avLst/>
          </a:prstGeom>
          <a:solidFill>
            <a:srgbClr val="222222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914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C8A84B"/>
                </a:solidFill>
                <a:latin typeface="Calibri"/>
              </a:rPr>
              <a:t>출생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28800"/>
            <a:ext cx="24000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  <a:latin typeface="Calibri"/>
              </a:rPr>
              <a:t>1956년, 경상북도 청도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58800"/>
            <a:ext cx="914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C8A84B"/>
                </a:solidFill>
                <a:latin typeface="Calibri"/>
              </a:rPr>
              <a:t>학력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58800"/>
            <a:ext cx="24000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  <a:latin typeface="Calibri"/>
              </a:rPr>
              <a:t>홍익대학교 서양화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88800"/>
            <a:ext cx="914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C8A84B"/>
                </a:solidFill>
                <a:latin typeface="Calibri"/>
              </a:rPr>
              <a:t>도불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888800"/>
            <a:ext cx="24000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  <a:latin typeface="Calibri"/>
              </a:rPr>
              <a:t>1989년 프랑스 파리 정착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18800"/>
            <a:ext cx="914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C8A84B"/>
                </a:solidFill>
                <a:latin typeface="Calibri"/>
              </a:rPr>
              <a:t>거점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418800"/>
            <a:ext cx="24000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  <a:latin typeface="Calibri"/>
              </a:rPr>
              <a:t>파리 · 청도 · 고양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48800"/>
            <a:ext cx="914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C8A84B"/>
                </a:solidFill>
                <a:latin typeface="Calibri"/>
              </a:rPr>
              <a:t>나이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948800"/>
            <a:ext cx="24000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  <a:latin typeface="Calibri"/>
              </a:rPr>
              <a:t>70세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645920"/>
            <a:ext cx="16000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농부의 아들에서 세계적 작가로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100000"/>
            <a:ext cx="1600000" cy="2654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경북 청도의 농부 아들로 태어나 1989년 프랑스로 건너간 이배는, 재정적 어려움 속에서 우연히 발견한 '숯 포대' 하나로 자신만의 예술 언어를 찾았습니다.</a:t>
            </a:r>
          </a:p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이후 30여 년간 숯이라는 단 하나의 매체에 천착하며 파리·뉴욕·베니스·서울 등 세계 무대에서 인정받는 작가가 되었습니다.</a:t>
            </a:r>
          </a:p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프랑스 국립 기메 동양박물관 개인전, 뉴욕 록펠러센터 전시, 베니스 빌모트 파운데이션 개인전 등 굵직한 커리어를 이어오고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0D0D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100" b="0" i="0" spc="600">
                <a:solidFill>
                  <a:srgbClr val="888888"/>
                </a:solidFill>
                <a:latin typeface="Calibri"/>
              </a:rPr>
              <a:t>M E D I U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숯 — 이배의 언어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91640"/>
            <a:ext cx="2743200" cy="320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691640"/>
            <a:ext cx="2743200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12600"/>
            <a:ext cx="23774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🔥  불로부터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54600"/>
            <a:ext cx="237744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A84B"/>
                </a:solidFill>
                <a:latin typeface="Calibri"/>
              </a:rPr>
              <a:t>Issu du feu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39600"/>
            <a:ext cx="2377440" cy="22691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나무는 불 속에서 형태를 잃지만 새로운 물질로 재탄생합니다. 파괴와 재생의 순환.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691640"/>
            <a:ext cx="2743200" cy="320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691640"/>
            <a:ext cx="2743200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812600"/>
            <a:ext cx="23774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⬛  검정의 깊이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54600"/>
            <a:ext cx="237744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A84B"/>
                </a:solidFill>
                <a:latin typeface="Calibri"/>
              </a:rPr>
              <a:t>검정 속 백 가지 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39600"/>
            <a:ext cx="2377440" cy="22691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"모든 색을 흡수한 검정에는 한 가지 빛깔이 아닌 백 가지의 색이 들어 있다."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691640"/>
            <a:ext cx="2743200" cy="3200000"/>
          </a:xfrm>
          <a:prstGeom prst="rect">
            <a:avLst/>
          </a:prstGeom>
          <a:solidFill>
            <a:srgbClr val="222222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2743200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812600"/>
            <a:ext cx="23774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🌿  정화와 포용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54600"/>
            <a:ext cx="237744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A84B"/>
                </a:solidFill>
                <a:latin typeface="Calibri"/>
              </a:rPr>
              <a:t>한국적 상징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39600"/>
            <a:ext cx="2377440" cy="22691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숯은 한국 전통에서 정화와 치유의 상징입니다. 이배에게 숯은 자신의 뿌리로 돌아가는 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100" b="0" i="1">
                <a:solidFill>
                  <a:srgbClr val="4A4A4A"/>
                </a:solidFill>
                <a:latin typeface="Calibri"/>
              </a:rPr>
              <a:t>"숯은 나에게 자신의 원천을 일깨워주는 재질이었다." — 이배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0D0D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100" b="0" i="0" spc="600">
                <a:solidFill>
                  <a:srgbClr val="888888"/>
                </a:solidFill>
                <a:latin typeface="Calibri"/>
              </a:rPr>
              <a:t>E X H I B I T I O N   S P A C E 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9144000" cy="4640580"/>
          </a:xfrm>
          <a:prstGeom prst="rect">
            <a:avLst/>
          </a:prstGeom>
          <a:solidFill>
            <a:srgbClr val="0A0A0A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8229600" cy="914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전시 공간 — 6개의 사유의 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645920"/>
            <a:ext cx="2743200" cy="1280160"/>
          </a:xfrm>
          <a:prstGeom prst="rect">
            <a:avLst/>
          </a:prstGeom>
          <a:solidFill>
            <a:srgbClr val="222222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645920"/>
            <a:ext cx="228600" cy="12801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45920"/>
            <a:ext cx="182880" cy="12801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C8A84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2423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불로부터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242316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A84B"/>
                </a:solidFill>
                <a:latin typeface="Calibri"/>
              </a:rPr>
              <a:t>Issu du feu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2423160" cy="5501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높이 8m · 폭 5m · 무게 7톤
2023 뉴욕 록펠러센터 화제작의 확장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645920"/>
            <a:ext cx="2743200" cy="1280160"/>
          </a:xfrm>
          <a:prstGeom prst="rect">
            <a:avLst/>
          </a:prstGeom>
          <a:solidFill>
            <a:srgbClr val="222222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645920"/>
            <a:ext cx="228600" cy="12801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645920"/>
            <a:ext cx="182880" cy="12801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C8A84B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737360"/>
            <a:ext cx="2423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붓질 연작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057400"/>
            <a:ext cx="242316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A84B"/>
                </a:solidFill>
                <a:latin typeface="Calibri"/>
              </a:rPr>
              <a:t>Brushstroke ×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331720"/>
            <a:ext cx="2423160" cy="5501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자연광과 함께 시시각각 변화
풍경 속을 산책하는 경험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645920"/>
            <a:ext cx="2743200" cy="1280160"/>
          </a:xfrm>
          <a:prstGeom prst="rect">
            <a:avLst/>
          </a:prstGeom>
          <a:solidFill>
            <a:srgbClr val="222222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645920"/>
            <a:ext cx="228600" cy="12801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645920"/>
            <a:ext cx="182880" cy="12801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C8A84B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737360"/>
            <a:ext cx="2423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White &amp; Black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057400"/>
            <a:ext cx="242316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A84B"/>
                </a:solidFill>
                <a:latin typeface="Calibri"/>
              </a:rPr>
              <a:t>음양의 균형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331720"/>
            <a:ext cx="2423160" cy="5501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대립이 아닌 조화
동양적 사유의 공간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3108960"/>
            <a:ext cx="2743200" cy="1280160"/>
          </a:xfrm>
          <a:prstGeom prst="rect">
            <a:avLst/>
          </a:prstGeom>
          <a:solidFill>
            <a:srgbClr val="222222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3108960"/>
            <a:ext cx="228600" cy="12801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108960"/>
            <a:ext cx="182880" cy="12801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C8A84B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200400"/>
            <a:ext cx="2423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Becoming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520440"/>
            <a:ext cx="242316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A84B"/>
                </a:solidFill>
                <a:latin typeface="Calibri"/>
              </a:rPr>
              <a:t>농부의 아들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794760"/>
            <a:ext cx="2423160" cy="5501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9m 스크린 영상 + 청도의 흙
땅·신체·시간의 순환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3108960"/>
            <a:ext cx="2743200" cy="1280160"/>
          </a:xfrm>
          <a:prstGeom prst="rect">
            <a:avLst/>
          </a:prstGeom>
          <a:solidFill>
            <a:srgbClr val="222222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0" y="3108960"/>
            <a:ext cx="228600" cy="12801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6120" y="3108960"/>
            <a:ext cx="182880" cy="12801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C8A84B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3200400"/>
            <a:ext cx="2423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야외 조각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3520440"/>
            <a:ext cx="242316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A84B"/>
                </a:solidFill>
                <a:latin typeface="Calibri"/>
              </a:rPr>
              <a:t>브론즈 붓질 ×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3794760"/>
            <a:ext cx="2423160" cy="5501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10m 높이 브론즈 조각
산세와 건축과의 대화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3108960"/>
            <a:ext cx="2743200" cy="1280160"/>
          </a:xfrm>
          <a:prstGeom prst="rect">
            <a:avLst/>
          </a:prstGeom>
          <a:solidFill>
            <a:srgbClr val="222222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2200" y="3108960"/>
            <a:ext cx="228600" cy="12801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3108960"/>
            <a:ext cx="182880" cy="12801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C8A84B"/>
                </a:solidFill>
                <a:latin typeface="Calibri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200400"/>
            <a:ext cx="2423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전체 동선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520440"/>
            <a:ext cx="242316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A84B"/>
                </a:solidFill>
                <a:latin typeface="Calibri"/>
              </a:rPr>
              <a:t>유기적 사유의 흐름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3794760"/>
            <a:ext cx="2423160" cy="5501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안도 다다오의 건축과 함께
하나의 연결된 서사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1A1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100" b="0" i="0" spc="600">
                <a:solidFill>
                  <a:srgbClr val="888888"/>
                </a:solidFill>
                <a:latin typeface="Calibri"/>
              </a:rPr>
              <a:t>T H E M 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4500000" cy="4686300"/>
          </a:xfrm>
          <a:prstGeom prst="rect">
            <a:avLst/>
          </a:prstGeom>
          <a:solidFill>
            <a:srgbClr val="0A0A0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4200000" cy="914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기다림이란 무엇인가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4864" cy="219456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500000" cy="21945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BBBBBB"/>
                </a:solidFill>
                <a:latin typeface="Calibri"/>
              </a:rPr>
              <a:t>"기다림은 수동적인 것이 아닙니다.
내가 예술을 진정으로 아는지, 내가 해온 작업은 무엇인지, 더 나아가 작가란 무엇인지 — 그런 마음에서 우러나오는 자기 성찰의 과정을 나타내는 물리적 시간입니다."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35000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1" i="1">
                <a:solidFill>
                  <a:srgbClr val="C8A84B"/>
                </a:solidFill>
                <a:latin typeface="Calibri"/>
              </a:rPr>
              <a:t>— 이배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000" y="1280160"/>
            <a:ext cx="4100000" cy="365760"/>
          </a:xfrm>
          <a:prstGeom prst="rect">
            <a:avLst/>
          </a:prstGeom>
          <a:solidFill>
            <a:srgbClr val="1E1E1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000" y="1280160"/>
            <a:ext cx="4100000" cy="3657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C8A84B"/>
                </a:solidFill>
                <a:latin typeface="Calibri"/>
              </a:rPr>
              <a:t>숯이 되기까지의 기다림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000" y="1645920"/>
            <a:ext cx="4100000" cy="950000"/>
          </a:xfrm>
          <a:prstGeom prst="rect">
            <a:avLst/>
          </a:prstGeom>
          <a:solidFill>
            <a:srgbClr val="181818">
              <a:alpha val="88000"/>
            </a:srgbClr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91440" y="1828800"/>
            <a:ext cx="548640" cy="5486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1440" y="1828800"/>
            <a:ext cx="54864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1520" y="1828800"/>
            <a:ext cx="32000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나무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1520" y="2148840"/>
            <a:ext cx="32000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살아있는 나무가 베어지기까지의 시간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000" y="2687360"/>
            <a:ext cx="4100000" cy="950000"/>
          </a:xfrm>
          <a:prstGeom prst="rect">
            <a:avLst/>
          </a:prstGeom>
          <a:solidFill>
            <a:srgbClr val="181818">
              <a:alpha val="88000"/>
            </a:srgbClr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91440" y="2870240"/>
            <a:ext cx="548640" cy="5486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1440" y="2870240"/>
            <a:ext cx="54864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1520" y="2870240"/>
            <a:ext cx="32000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1520" y="3190280"/>
            <a:ext cx="32000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가마 속에서 형태를 잃어가는 연소의 시간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000" y="3728800"/>
            <a:ext cx="4100000" cy="950000"/>
          </a:xfrm>
          <a:prstGeom prst="rect">
            <a:avLst/>
          </a:prstGeom>
          <a:solidFill>
            <a:srgbClr val="181818">
              <a:alpha val="88000"/>
            </a:srgbClr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91440" y="3911680"/>
            <a:ext cx="548640" cy="5486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1440" y="3911680"/>
            <a:ext cx="54864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1520" y="3911680"/>
            <a:ext cx="32000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1520" y="4231720"/>
            <a:ext cx="32000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식으며 새로운 물질로 재탄생하는 시간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g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000" y="600000"/>
            <a:ext cx="3700000" cy="3500000"/>
          </a:xfrm>
          <a:prstGeom prst="rect">
            <a:avLst/>
          </a:prstGeom>
        </p:spPr>
      </p:pic>
      <p:pic>
        <p:nvPicPr>
          <p:cNvPr id="5" name="Picture 4" descr="img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000" y="4100000"/>
            <a:ext cx="1800000" cy="9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57200"/>
            <a:ext cx="46000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0" i="0" spc="600">
                <a:solidFill>
                  <a:srgbClr val="888888"/>
                </a:solidFill>
                <a:latin typeface="Calibri"/>
              </a:rPr>
              <a:t>E N   A T T E N D A N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46000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기다리며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2000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BBBBBB"/>
                </a:solidFill>
                <a:latin typeface="Calibri"/>
              </a:rPr>
              <a:t>뮤지엄 산 최초 국내 작가 기획전</a:t>
            </a:r>
          </a:p>
          <a:p>
            <a:pPr algn="l"/>
            <a:r>
              <a:rPr sz="1600" b="0" i="0">
                <a:solidFill>
                  <a:srgbClr val="BBBBBB"/>
                </a:solidFill>
                <a:latin typeface="Calibri"/>
              </a:rPr>
              <a:t>이배의 30년을 온전히 담은 전시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063240"/>
            <a:ext cx="3500000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3200400"/>
            <a:ext cx="3400000" cy="1280160"/>
          </a:xfrm>
          <a:prstGeom prst="rect">
            <a:avLst/>
          </a:prstGeom>
          <a:solidFill>
            <a:srgbClr val="222222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350000"/>
            <a:ext cx="32000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  <a:latin typeface="Calibri"/>
              </a:rPr>
              <a:t>📍 강원도 원주  뮤지엄 산 (Museum SAN)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705000"/>
            <a:ext cx="32000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  <a:latin typeface="Calibri"/>
              </a:rPr>
              <a:t>📅 2026년 4월 7일 — 12월 6일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060000"/>
            <a:ext cx="32000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  <a:latin typeface="Calibri"/>
              </a:rPr>
              <a:t>🎨 회화 · 조각 · 설치 · 영상  총 39점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